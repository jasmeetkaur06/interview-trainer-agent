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3" r:id="rId3"/>
    <p:sldId id="257" r:id="rId4"/>
    <p:sldId id="282" r:id="rId6"/>
    <p:sldId id="284" r:id="rId7"/>
    <p:sldId id="285" r:id="rId8"/>
    <p:sldId id="281" r:id="rId9"/>
    <p:sldId id="279" r:id="rId10"/>
    <p:sldId id="262" r:id="rId11"/>
    <p:sldId id="287" r:id="rId12"/>
    <p:sldId id="264" r:id="rId13"/>
    <p:sldId id="278" r:id="rId14"/>
    <p:sldId id="286" r:id="rId15"/>
    <p:sldId id="277" r:id="rId16"/>
    <p:sldId id="280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Jasmeet Kaur</a:t>
                      </a:r>
                      <a:endParaRPr lang="en-US"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jasmeetkaur8206@gmail.com</a:t>
                      </a:r>
                      <a:endParaRPr lang="en-US"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9142341110</a:t>
                      </a:r>
                      <a:endParaRPr lang="en-US"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98" name="Google Shape;98;p2" descr="C:/Users/KIIT/Downloads/profile.jpgprofile"/>
          <p:cNvPicPr preferRelativeResize="0"/>
          <p:nvPr/>
        </p:nvPicPr>
        <p:blipFill rotWithShape="1">
          <a:blip r:embed="rId1"/>
          <a:srcRect t="5321" b="5321"/>
          <a:stretch>
            <a:fillRect/>
          </a:stretch>
        </p:blipFill>
        <p:spPr>
          <a:xfrm>
            <a:off x="4043680" y="3621405"/>
            <a:ext cx="937895" cy="10744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206164" y="1460724"/>
            <a:ext cx="102802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</a:t>
            </a:r>
            <a:r>
              <a:rPr lang="en-US" sz="2800" b="1" dirty="0">
                <a:sym typeface="+mn-ea"/>
              </a:rPr>
              <a:t>Education / Career Development</a:t>
            </a:r>
            <a:endParaRPr lang="en-US" sz="2800" b="1" dirty="0"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162" y="551965"/>
            <a:ext cx="9581177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Tile –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Interview Trainer Agent – AI-Powered Mock Interview Coach</a:t>
            </a:r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945" y="828675"/>
            <a:ext cx="10607040" cy="5857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/>
            <a:r>
              <a:rPr lang="en-US" sz="1600" b="1" dirty="0"/>
              <a:t>Problem Statement No. 22 : Interview Trainer Agent</a:t>
            </a:r>
            <a:endParaRPr lang="en-US" sz="1600" dirty="0"/>
          </a:p>
          <a:p>
            <a:pPr fontAlgn="base"/>
            <a:endParaRPr lang="en-US" sz="1600" b="1" dirty="0"/>
          </a:p>
          <a:p>
            <a:pPr fontAlgn="base"/>
            <a:r>
              <a:rPr lang="en-US" sz="1600" b="1" dirty="0"/>
              <a:t>The Challenge</a:t>
            </a:r>
            <a:r>
              <a:rPr lang="en-US" sz="1600" dirty="0"/>
              <a:t> </a:t>
            </a:r>
            <a:endParaRPr lang="en-US" sz="1600" dirty="0"/>
          </a:p>
          <a:p>
            <a:pPr fontAlgn="base"/>
            <a:r>
              <a:rPr lang="en-US" sz="1600" dirty="0">
                <a:sym typeface="+mn-ea"/>
              </a:rPr>
              <a:t>Job seekers, especially students and fresh graduates, struggle to prepare for interviews. They lack </a:t>
            </a:r>
            <a:r>
              <a:rPr lang="en-US" sz="1600" b="1" dirty="0">
                <a:sym typeface="+mn-ea"/>
              </a:rPr>
              <a:t>personalized coaching, role-specific practice questions, and real-time feedback.</a:t>
            </a:r>
            <a:r>
              <a:rPr lang="en-US" sz="1600" dirty="0">
                <a:sym typeface="+mn-ea"/>
              </a:rPr>
              <a:t> Existing tools are either too generic, expensive, or not interactive enough to simulate a real inteoss unreliable sources. Without </a:t>
            </a:r>
            <a:r>
              <a:rPr lang="en-US" sz="1600" b="1" dirty="0">
                <a:sym typeface="+mn-ea"/>
              </a:rPr>
              <a:t>review experience. Without personalized guidance</a:t>
            </a:r>
            <a:r>
              <a:rPr lang="en-US" sz="1600" dirty="0">
                <a:sym typeface="+mn-ea"/>
              </a:rPr>
              <a:t>, many students miss out on their dream jobs.</a:t>
            </a:r>
            <a:endParaRPr lang="en-US" sz="1600" b="1" dirty="0">
              <a:sym typeface="+mn-ea"/>
            </a:endParaRPr>
          </a:p>
          <a:p>
            <a:pPr fontAlgn="base"/>
            <a:endParaRPr lang="en-US" sz="1600" b="1" dirty="0">
              <a:sym typeface="+mn-ea"/>
            </a:endParaRPr>
          </a:p>
          <a:p>
            <a:pPr fontAlgn="base"/>
            <a:r>
              <a:rPr lang="en-US" sz="1600" b="1" dirty="0"/>
              <a:t>The Objective</a:t>
            </a:r>
            <a:r>
              <a:rPr lang="en-US" sz="1600" dirty="0"/>
              <a:t> </a:t>
            </a:r>
            <a:endParaRPr lang="en-US" sz="1600" dirty="0"/>
          </a:p>
          <a:p>
            <a:pPr fontAlgn="base"/>
            <a:r>
              <a:rPr lang="en-US" sz="1600" dirty="0">
                <a:sym typeface="+mn-ea"/>
              </a:rPr>
              <a:t>Build an </a:t>
            </a:r>
            <a:r>
              <a:rPr lang="en-US" sz="1600" b="1" dirty="0">
                <a:sym typeface="+mn-ea"/>
              </a:rPr>
              <a:t>AI-powered Interview Trainer Agent</a:t>
            </a:r>
            <a:r>
              <a:rPr lang="en-US" sz="1600" dirty="0">
                <a:sym typeface="+mn-ea"/>
              </a:rPr>
              <a:t> that prepares users for job interviews through </a:t>
            </a:r>
            <a:r>
              <a:rPr lang="en-US" sz="1600" b="1" dirty="0">
                <a:sym typeface="+mn-ea"/>
              </a:rPr>
              <a:t>personalized question generation and intelligent feedback</a:t>
            </a:r>
            <a:r>
              <a:rPr lang="en-US" sz="1600" dirty="0">
                <a:sym typeface="+mn-ea"/>
              </a:rPr>
              <a:t>. The solution should: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Personalized Questions</a:t>
            </a:r>
            <a:r>
              <a:rPr lang="en-US" sz="1600" dirty="0">
                <a:sym typeface="+mn-ea"/>
              </a:rPr>
              <a:t> – Generate role-specific interview questions based on job title and experience level.ls.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Mock Interview Session</a:t>
            </a:r>
            <a:r>
              <a:rPr lang="en-US" sz="1600" dirty="0">
                <a:sym typeface="+mn-ea"/>
              </a:rPr>
              <a:t> – Conduct a live one-question-at-a-time mock interview with conversation memory.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Answer Feedback</a:t>
            </a:r>
            <a:r>
              <a:rPr lang="en-US" sz="1600" dirty="0">
                <a:sym typeface="+mn-ea"/>
              </a:rPr>
              <a:t> – Evaluate each response and provide what was good, what to improve, and a model answer.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Session Summary</a:t>
            </a:r>
            <a:r>
              <a:rPr lang="en-US" sz="1600" dirty="0">
                <a:sym typeface="+mn-ea"/>
              </a:rPr>
              <a:t> – Provide an overall score out of 10 with strengths and improvement areas after all questions.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Agent Capabilities</a:t>
            </a:r>
            <a:r>
              <a:rPr lang="en-US" sz="1600" dirty="0">
                <a:sym typeface="+mn-ea"/>
              </a:rPr>
              <a:t> –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Supports technical and behavioral questions for any job role</a:t>
            </a:r>
            <a:r>
              <a:rPr lang="en-US" sz="1600" dirty="0">
                <a:sym typeface="+mn-ea"/>
              </a:rPr>
              <a:t>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Adapts to experience level: fresher, mid-level, or senior</a:t>
            </a:r>
            <a:r>
              <a:rPr lang="en-US" sz="1600" dirty="0">
                <a:sym typeface="+mn-ea"/>
              </a:rPr>
              <a:t>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Remembers full conversation history for context-aware responses</a:t>
            </a:r>
            <a:r>
              <a:rPr lang="en-US" sz="1600" dirty="0">
                <a:sym typeface="+mn-ea"/>
              </a:rPr>
              <a:t> 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Built on IBM watsonx.ai </a:t>
            </a:r>
            <a:endParaRPr lang="en-US" sz="16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sym typeface="+mn-ea"/>
              </a:rPr>
              <a:t>Zero Setup</a:t>
            </a:r>
            <a:r>
              <a:rPr lang="en-US" sz="1600" dirty="0">
                <a:sym typeface="+mn-ea"/>
              </a:rPr>
              <a:t> – Users simply open LangFlow chat and start practicing immediately. </a:t>
            </a:r>
            <a:endParaRPr lang="en-US" sz="1600" dirty="0"/>
          </a:p>
          <a:p>
            <a:pPr fontAlgn="base"/>
            <a:endParaRPr lang="en-US" sz="1600" dirty="0"/>
          </a:p>
          <a:p>
            <a:endParaRPr lang="en-IN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366903"/>
            <a:ext cx="72146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1165753"/>
            <a:ext cx="10607040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2000" b="1" dirty="0"/>
          </a:p>
          <a:p>
            <a:pPr fontAlgn="base"/>
            <a:r>
              <a:rPr lang="en-IN" sz="2000" b="1" dirty="0"/>
              <a:t>Tech Stack (Mandatory)</a:t>
            </a:r>
            <a:r>
              <a:rPr lang="en-IN" sz="2000" dirty="0"/>
              <a:t> </a:t>
            </a:r>
            <a:endParaRPr lang="en-IN" sz="2000" dirty="0"/>
          </a:p>
          <a:p>
            <a:pPr fontAlgn="base"/>
            <a:r>
              <a:rPr lang="en-IN" sz="2000" dirty="0"/>
              <a:t>Use </a:t>
            </a:r>
            <a:r>
              <a:rPr lang="en-IN" sz="2000" b="1" dirty="0"/>
              <a:t>any one</a:t>
            </a:r>
            <a:r>
              <a:rPr lang="en-IN" sz="2000" dirty="0"/>
              <a:t> of the following approaches: </a:t>
            </a:r>
            <a:endParaRPr lang="en-I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dirty="0" err="1"/>
              <a:t>LangFlow</a:t>
            </a:r>
            <a:r>
              <a:rPr lang="en-IN" sz="2000" dirty="0"/>
              <a:t> + IBM watsonx.ai + Granite Models </a:t>
            </a:r>
            <a:endParaRPr lang="en-I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dirty="0"/>
              <a:t>IBM Cloud Agentic Lab with IBM Granite Models </a:t>
            </a:r>
            <a:endParaRPr lang="en-I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dirty="0"/>
              <a:t>Replicate with </a:t>
            </a:r>
            <a:r>
              <a:rPr lang="en-IN" sz="2000" dirty="0" err="1"/>
              <a:t>LangChain</a:t>
            </a:r>
            <a:r>
              <a:rPr lang="en-IN" sz="2000" dirty="0"/>
              <a:t> + RAG + IBM Granite Models</a:t>
            </a:r>
            <a:endParaRPr lang="en-I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2000" dirty="0"/>
          </a:p>
          <a:p>
            <a:pPr fontAlgn="base"/>
            <a:r>
              <a:rPr lang="en-IN" sz="2000" dirty="0"/>
              <a:t>I used </a:t>
            </a:r>
            <a:r>
              <a:rPr lang="en-IN" sz="2000" dirty="0" err="1"/>
              <a:t>LangFlow</a:t>
            </a:r>
            <a:r>
              <a:rPr lang="en-IN" sz="2000" dirty="0"/>
              <a:t> + IBM watsonx.ai + Granite Models</a:t>
            </a:r>
            <a:r>
              <a:rPr lang="en-IN" sz="2000" dirty="0">
                <a:highlight>
                  <a:srgbClr val="FFFF00"/>
                </a:highlight>
              </a:rPr>
              <a:t> </a:t>
            </a:r>
            <a:endParaRPr lang="en-IN" sz="2000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Used</a:t>
            </a:r>
            <a:r>
              <a:rPr lang="en-US" sz="2400" b="1" dirty="0"/>
              <a:t> </a:t>
            </a:r>
            <a:endParaRPr lang="en-IN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730" y="848360"/>
            <a:ext cx="10607040" cy="411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/>
            <a:endParaRPr lang="en-US" sz="1800" b="1" dirty="0"/>
          </a:p>
          <a:p>
            <a:pPr fontAlgn="base"/>
            <a:r>
              <a:rPr lang="en-US" sz="1800" b="1" dirty="0">
                <a:sym typeface="+mn-ea"/>
              </a:rPr>
              <a:t>Proposed Solution: Interview Trainer Agent</a:t>
            </a:r>
            <a:endParaRPr lang="en-US" sz="1800" b="1" dirty="0"/>
          </a:p>
          <a:p>
            <a:pPr fontAlgn="base"/>
            <a:r>
              <a:rPr lang="en-US" sz="1800" dirty="0">
                <a:sym typeface="+mn-ea"/>
              </a:rPr>
              <a:t>The proposed solution is a </a:t>
            </a:r>
            <a:r>
              <a:rPr lang="en-US" sz="1800" b="1" dirty="0">
                <a:sym typeface="+mn-ea"/>
              </a:rPr>
              <a:t>AI-powered Interview Trainer Agent</a:t>
            </a:r>
            <a:r>
              <a:rPr lang="en-US" sz="1800" dirty="0">
                <a:sym typeface="+mn-ea"/>
              </a:rPr>
              <a:t> built using </a:t>
            </a:r>
            <a:r>
              <a:rPr lang="en-US" sz="1800" b="1" dirty="0" err="1">
                <a:sym typeface="+mn-ea"/>
              </a:rPr>
              <a:t>LangFlow</a:t>
            </a:r>
            <a:r>
              <a:rPr lang="en-US" sz="1800" b="1" dirty="0">
                <a:sym typeface="+mn-ea"/>
              </a:rPr>
              <a:t> and IBM watsonx.ai.</a:t>
            </a:r>
            <a:r>
              <a:rPr lang="en-US" sz="1800" dirty="0">
                <a:sym typeface="+mn-ea"/>
              </a:rPr>
              <a:t> It prepares users for job interviews through personalized question generation, mock sessions, and intelligent feedback.</a:t>
            </a:r>
            <a:endParaRPr lang="en-US" sz="1800" dirty="0"/>
          </a:p>
          <a:p>
            <a:pPr fontAlgn="base"/>
            <a:r>
              <a:rPr lang="en-US" sz="1800" dirty="0">
                <a:sym typeface="+mn-ea"/>
              </a:rPr>
              <a:t>The agent is built on a clean LangFlow workflow: Chat Input → IBM watsonx.ai → Chat Output, with </a:t>
            </a:r>
            <a:r>
              <a:rPr lang="en-US" sz="1800" b="1" dirty="0">
                <a:sym typeface="+mn-ea"/>
              </a:rPr>
              <a:t>Message History</a:t>
            </a:r>
            <a:r>
              <a:rPr lang="en-US" sz="1800" dirty="0">
                <a:sym typeface="+mn-ea"/>
              </a:rPr>
              <a:t> maintaining full conversation context across the entire mock interview session.</a:t>
            </a:r>
            <a:endParaRPr lang="en-US" sz="1800" dirty="0"/>
          </a:p>
          <a:p>
            <a:pPr fontAlgn="base"/>
            <a:r>
              <a:rPr lang="en-US" sz="1800" dirty="0">
                <a:sym typeface="+mn-ea"/>
              </a:rPr>
              <a:t>The agent performs four key functions in sequence:</a:t>
            </a:r>
            <a:endParaRPr lang="en-US" sz="1800" dirty="0"/>
          </a:p>
          <a:p>
            <a:pPr fontAlgn="base"/>
            <a:r>
              <a:rPr lang="en-US" sz="1800" b="1" dirty="0">
                <a:sym typeface="+mn-ea"/>
              </a:rPr>
              <a:t>1. Greet the user</a:t>
            </a:r>
            <a:r>
              <a:rPr lang="en-US" sz="1800" dirty="0">
                <a:sym typeface="+mn-ea"/>
              </a:rPr>
              <a:t> and confirm their job role and experience level.</a:t>
            </a:r>
            <a:endParaRPr lang="en-US" sz="1800" dirty="0"/>
          </a:p>
          <a:p>
            <a:pPr fontAlgn="base"/>
            <a:r>
              <a:rPr lang="en-US" sz="1800" b="1" dirty="0">
                <a:sym typeface="+mn-ea"/>
              </a:rPr>
              <a:t>2. Generate exactly 5 targeted interview questions</a:t>
            </a:r>
            <a:r>
              <a:rPr lang="en-US" sz="1800" dirty="0">
                <a:sym typeface="+mn-ea"/>
              </a:rPr>
              <a:t> (technical + behavioral) specific to that role and experience level. </a:t>
            </a:r>
            <a:endParaRPr lang="en-US" sz="1800" dirty="0"/>
          </a:p>
          <a:p>
            <a:pPr fontAlgn="base"/>
            <a:r>
              <a:rPr lang="en-US" sz="1800" b="1" dirty="0">
                <a:sym typeface="+mn-ea"/>
              </a:rPr>
              <a:t>3. Ask one question at a time</a:t>
            </a:r>
            <a:r>
              <a:rPr lang="en-US" sz="1800" dirty="0">
                <a:sym typeface="+mn-ea"/>
              </a:rPr>
              <a:t>, evaluate each answer, and give detailed feedback with what was good, what to improve, and a model answer. </a:t>
            </a:r>
            <a:endParaRPr lang="en-US" sz="1800" dirty="0"/>
          </a:p>
          <a:p>
            <a:pPr fontAlgn="base"/>
            <a:r>
              <a:rPr lang="en-US" sz="1800" b="1" dirty="0">
                <a:sym typeface="+mn-ea"/>
              </a:rPr>
              <a:t>4. Deliver a final session summary</a:t>
            </a:r>
            <a:r>
              <a:rPr lang="en-US" sz="1800" dirty="0">
                <a:sym typeface="+mn-ea"/>
              </a:rPr>
              <a:t> with overall score out of 10, top 3 strengths, and a personalized improvement roadmap. </a:t>
            </a:r>
            <a:endParaRPr lang="en-US" sz="1800" dirty="0"/>
          </a:p>
          <a:p>
            <a:pPr fontAlgn="base"/>
            <a:r>
              <a:rPr lang="en-US" sz="1800" dirty="0">
                <a:sym typeface="+mn-ea"/>
              </a:rPr>
              <a:t>The </a:t>
            </a:r>
            <a:r>
              <a:rPr lang="en-US" sz="1800" b="1" dirty="0">
                <a:sym typeface="+mn-ea"/>
              </a:rPr>
              <a:t>LangFlow Playground</a:t>
            </a:r>
            <a:r>
              <a:rPr lang="en-US" sz="1800" dirty="0">
                <a:sym typeface="+mn-ea"/>
              </a:rPr>
              <a:t> serves as the </a:t>
            </a:r>
            <a:r>
              <a:rPr lang="en-US" sz="1800" dirty="0" err="1">
                <a:sym typeface="+mn-ea"/>
              </a:rPr>
              <a:t>user-friendly chat interface</a:t>
            </a:r>
            <a:r>
              <a:rPr lang="en-US" sz="1800" dirty="0">
                <a:sym typeface="+mn-ea"/>
              </a:rPr>
              <a:t> – clean, simple, zero technical setup required for end users.</a:t>
            </a:r>
            <a:endParaRPr lang="en-US" sz="1800" dirty="0"/>
          </a:p>
          <a:p>
            <a:pPr fontAlgn="base"/>
            <a:r>
              <a:rPr lang="en-US" sz="1800" dirty="0" err="1">
                <a:sym typeface="+mn-ea"/>
              </a:rPr>
              <a:t>LangFlow</a:t>
            </a:r>
            <a:r>
              <a:rPr lang="en-US" sz="1800" dirty="0">
                <a:sym typeface="+mn-ea"/>
              </a:rPr>
              <a:t> orchestrates the workflow visually. IBM watsonx.ai provides model inference on IBM Cloud Lite (free tier, au-syd region)</a:t>
            </a:r>
            <a:endParaRPr lang="en-US" sz="1800" dirty="0"/>
          </a:p>
          <a:p>
            <a:pPr fontAlgn="base"/>
            <a:r>
              <a:rPr lang="en-US" sz="1800" dirty="0">
                <a:sym typeface="+mn-ea"/>
              </a:rPr>
              <a:t>Overall, this solution delivers an </a:t>
            </a:r>
            <a:r>
              <a:rPr lang="en-US" sz="1800" b="1" dirty="0">
                <a:sym typeface="+mn-ea"/>
              </a:rPr>
              <a:t>end-to-end intelligent interview coach</a:t>
            </a:r>
            <a:r>
              <a:rPr lang="en-US" sz="1800" dirty="0">
                <a:sym typeface="+mn-ea"/>
              </a:rPr>
              <a:t> that builds confidence, sharpens responses, and increases job success rates for students and freshers.</a:t>
            </a:r>
            <a:endParaRPr lang="en-US" sz="1800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5945" y="251460"/>
            <a:ext cx="7176770" cy="818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/>
              <a:t>Proposed Solution - </a:t>
            </a:r>
            <a:r>
              <a:rPr lang="en-US" sz="2800" b="1" dirty="0">
                <a:sym typeface="+mn-ea"/>
              </a:rPr>
              <a:t>Interview Trainer Agent (PS-22)</a:t>
            </a:r>
            <a:endParaRPr lang="en-IN" sz="28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410234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  <a:sym typeface="Times New Roman" panose="02020603050405020304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 panose="02020603050405020304"/>
              </a:rPr>
              <a:t>component Used -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980" y="1091565"/>
            <a:ext cx="8823960" cy="4674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sym typeface="+mn-ea"/>
              </a:rPr>
              <a:t>1) Chat Input </a:t>
            </a:r>
            <a:r>
              <a:rPr lang="en-US" sz="2000" dirty="0">
                <a:sym typeface="+mn-ea"/>
              </a:rPr>
              <a:t>– Interface where users type their job role, experience level, and interview answers during the session.</a:t>
            </a:r>
            <a:endParaRPr lang="en-US" sz="2000" dirty="0"/>
          </a:p>
          <a:p>
            <a:pPr marL="342900" indent="-342900">
              <a:buAutoNum type="arabicParenR" startAt="3"/>
            </a:pPr>
            <a:endParaRPr lang="en-US" sz="2000" b="1" dirty="0">
              <a:sym typeface="+mn-ea"/>
            </a:endParaRPr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2) IBM </a:t>
            </a:r>
            <a:r>
              <a:rPr lang="en-US" sz="2000" b="1" dirty="0" err="1">
                <a:sym typeface="+mn-ea"/>
              </a:rPr>
              <a:t>watsonx</a:t>
            </a:r>
            <a:r>
              <a:rPr lang="en-US" sz="2000" b="1" dirty="0">
                <a:sym typeface="+mn-ea"/>
              </a:rPr>
              <a:t> AI </a:t>
            </a:r>
            <a:r>
              <a:rPr lang="en-US" sz="2000" dirty="0">
                <a:sym typeface="+mn-ea"/>
              </a:rPr>
              <a:t>– Core LLM component processing input to generate interview questions, feedback, and session summaries. </a:t>
            </a:r>
            <a:endParaRPr lang="en-US" sz="2000" dirty="0"/>
          </a:p>
          <a:p>
            <a:pPr marL="342900" indent="-342900">
              <a:buAutoNum type="arabicParenR" startAt="3"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3) Model Used: </a:t>
            </a:r>
            <a:r>
              <a:rPr lang="en-US" sz="2000" dirty="0">
                <a:sym typeface="+mn-ea"/>
              </a:rPr>
              <a:t>IBM Granite (ibm-granite-3-2-8b-instruct intended; Llama 3.3 70B used on IBM watsonx.ai – instructor approved)</a:t>
            </a:r>
            <a:endParaRPr lang="en-US" sz="2000" dirty="0"/>
          </a:p>
          <a:p>
            <a:pPr marL="342900" indent="-342900">
              <a:buAutoNum type="arabicParenR" startAt="3"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4) Chat Output – </a:t>
            </a:r>
            <a:r>
              <a:rPr lang="en-US" sz="2000" dirty="0">
                <a:sym typeface="+mn-ea"/>
              </a:rPr>
              <a:t>Displays interview questions, answer feedback, model answers, and the final session summary.</a:t>
            </a:r>
            <a:endParaRPr lang="en-US" sz="2000" dirty="0"/>
          </a:p>
          <a:p>
            <a:pPr marL="342900" indent="-342900">
              <a:buAutoNum type="arabicParenR" startAt="3"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5) Message History – </a:t>
            </a:r>
            <a:r>
              <a:rPr lang="en-US" sz="2000" dirty="0">
                <a:sym typeface="+mn-ea"/>
              </a:rPr>
              <a:t>Stores and retrieves full conversation so the agent remembers all previous Q&amp;A in the session.</a:t>
            </a:r>
            <a:endParaRPr lang="en-US" sz="2000" dirty="0"/>
          </a:p>
          <a:p>
            <a:pPr marL="342900" indent="-342900">
              <a:buAutoNum type="arabicParenR" startAt="3"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ym typeface="+mn-ea"/>
              </a:rPr>
              <a:t>6) Prompt Template (System Message) – Custom instructions defining agent behavior as expert interview coach</a:t>
            </a:r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/Users/KIIT/OneDrive/Pictures/Screenshots/Screenshot 2026-06-05 132830.pngScreenshot 2026-06-05 132830"/>
          <p:cNvPicPr>
            <a:picLocks noChangeAspect="1"/>
          </p:cNvPicPr>
          <p:nvPr/>
        </p:nvPicPr>
        <p:blipFill>
          <a:blip r:embed="rId1"/>
          <a:srcRect l="13094" r="13289"/>
          <a:stretch>
            <a:fillRect/>
          </a:stretch>
        </p:blipFill>
        <p:spPr>
          <a:xfrm>
            <a:off x="195580" y="911225"/>
            <a:ext cx="5900420" cy="5806440"/>
          </a:xfrm>
          <a:prstGeom prst="rect">
            <a:avLst/>
          </a:prstGeom>
        </p:spPr>
      </p:pic>
      <p:sp>
        <p:nvSpPr>
          <p:cNvPr id="2" name="Google Shape;135;p5"/>
          <p:cNvSpPr/>
          <p:nvPr/>
        </p:nvSpPr>
        <p:spPr>
          <a:xfrm>
            <a:off x="537845" y="323215"/>
            <a:ext cx="11157585" cy="44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  <a:sym typeface="Times New Roman" panose="02020603050405020304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Times New Roman" panose="02020603050405020304"/>
              </a:rPr>
              <a:t>workflow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Times New Roman" panose="02020603050405020304"/>
              </a:rPr>
              <a:t> </a:t>
            </a:r>
            <a:r>
              <a:rPr lang="en-US" sz="2400" b="1" dirty="0">
                <a:sym typeface="Times New Roman" panose="02020603050405020304"/>
              </a:rPr>
              <a:t>                          </a:t>
            </a:r>
            <a:r>
              <a:rPr lang="en-US" altLang="en-US" sz="2800" b="1" dirty="0">
                <a:sym typeface="Times New Roman" panose="02020603050405020304"/>
              </a:rPr>
              <a:t>Mock Interview Demonstration</a:t>
            </a:r>
            <a:r>
              <a:rPr lang="en-US" altLang="en-US" sz="2400" b="1" dirty="0">
                <a:sym typeface="Times New Roman" panose="02020603050405020304"/>
              </a:rPr>
              <a:t> -</a:t>
            </a:r>
            <a:endParaRPr lang="en-US" altLang="en-US" sz="2400" b="1" dirty="0">
              <a:sym typeface="Times New Roman" panose="020206030504050203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850" y="911225"/>
            <a:ext cx="5716905" cy="35509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850" y="4534535"/>
            <a:ext cx="5716905" cy="2187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 descr="C:/Users/KIIT/Downloads/ChatGPT Image Jun 5, 2026, 01_05_23 PM.pngChatGPT Image Jun 5, 2026, 01_05_23 PM"/>
          <p:cNvPicPr preferRelativeResize="0"/>
          <p:nvPr/>
        </p:nvPicPr>
        <p:blipFill rotWithShape="1">
          <a:blip r:embed="rId1"/>
          <a:srcRect l="764" t="519" r="487" b="295"/>
          <a:stretch>
            <a:fillRect/>
          </a:stretch>
        </p:blipFill>
        <p:spPr>
          <a:xfrm>
            <a:off x="-635" y="-76835"/>
            <a:ext cx="12192000" cy="69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365125"/>
            <a:ext cx="11033125" cy="960755"/>
          </a:xfrm>
        </p:spPr>
        <p:txBody>
          <a:bodyPr/>
          <a:p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IBM watsonx.ai Resource Usage Dashboard -</a:t>
            </a:r>
            <a:endParaRPr lang="en-US" altLang="en-U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:/Users/KIIT/OneDrive/Pictures/Screenshots/Screenshot 2026-06-05 134931.pngScreenshot 2026-06-05 134931"/>
          <p:cNvPicPr>
            <a:picLocks noChangeAspect="1"/>
          </p:cNvPicPr>
          <p:nvPr/>
        </p:nvPicPr>
        <p:blipFill>
          <a:blip r:embed="rId1"/>
          <a:srcRect t="625" b="625"/>
          <a:stretch>
            <a:fillRect/>
          </a:stretch>
        </p:blipFill>
        <p:spPr>
          <a:xfrm>
            <a:off x="320040" y="1198880"/>
            <a:ext cx="11579225" cy="5367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</a:t>
            </a:r>
            <a:r>
              <a:rPr lang="en-US" sz="3200" b="1" dirty="0"/>
              <a:t> 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21665" y="1167765"/>
            <a:ext cx="7406640" cy="419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/>
              <a:t>Role of Agentic AI in the Interview Trainer Agent</a:t>
            </a:r>
            <a:endParaRPr lang="en-US" altLang="en-US" sz="2000" b="1" dirty="0"/>
          </a:p>
          <a:p>
            <a:endParaRPr lang="en-US" altLang="en-US" sz="2000" b="1" dirty="0"/>
          </a:p>
          <a:p>
            <a:r>
              <a:rPr lang="en-US" altLang="en-US" sz="2000" b="1" dirty="0"/>
              <a:t>Agentic AI</a:t>
            </a:r>
            <a:r>
              <a:rPr lang="en-US" altLang="en-US" sz="2000" dirty="0"/>
              <a:t> enables the </a:t>
            </a:r>
            <a:r>
              <a:rPr lang="en-US" altLang="en-US" sz="2000" b="1" dirty="0"/>
              <a:t>Interview Trainer Agent</a:t>
            </a:r>
            <a:r>
              <a:rPr lang="en-US" altLang="en-US" sz="2000" dirty="0"/>
              <a:t> to function as an intelligent, autonomous interview coach rather than a simple chatbot. Using </a:t>
            </a:r>
            <a:r>
              <a:rPr lang="en-US" altLang="en-US" sz="2000" b="1" dirty="0"/>
              <a:t>IBM watsonx.ai and IBM Granite models</a:t>
            </a:r>
            <a:r>
              <a:rPr lang="en-US" altLang="en-US" sz="2000" dirty="0"/>
              <a:t>, it independently plans, conducts, and adapts the entire mock interview session without manual scripting.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The agent autonomously generates role-specific questions, evaluates answers in context, and provides personalized feedback. Using </a:t>
            </a:r>
            <a:r>
              <a:rPr lang="en-US" altLang="en-US" sz="2000" b="1" dirty="0"/>
              <a:t>Message History</a:t>
            </a:r>
            <a:r>
              <a:rPr lang="en-US" altLang="en-US" sz="2000" dirty="0"/>
              <a:t>, it remembers previous interactions and maintains a coherent multi-turn interview experience.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Its goal-oriented behavior ensures that every interaction contributes toward improving the </a:t>
            </a:r>
            <a:r>
              <a:rPr lang="en-US" altLang="en-US" sz="2000" b="1" dirty="0"/>
              <a:t>user's interview readiness, confidence, and communication skills.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6031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LangFlow Platform</a:t>
            </a:r>
            <a:r>
              <a:rPr lang="en-US" altLang="en-US" sz="2000" dirty="0"/>
              <a:t> – Used to design and orchestrate the Interview Trainer Agent workflow through a visual no-code interface.</a:t>
            </a:r>
            <a:endParaRPr lang="en-US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IBM watsonx.ai</a:t>
            </a:r>
            <a:r>
              <a:rPr lang="en-US" altLang="en-US" sz="2000" dirty="0"/>
              <a:t> – Provides access to foundation models and powers interview question generation, answer evaluation, and feedback.</a:t>
            </a:r>
            <a:endParaRPr lang="en-US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</a:t>
            </a:r>
            <a:r>
              <a:rPr lang="en-US" sz="2000" b="1" dirty="0" err="1"/>
              <a:t>Grainte</a:t>
            </a:r>
            <a:r>
              <a:rPr lang="en-US" sz="2000" b="1" dirty="0"/>
              <a:t> model </a:t>
            </a:r>
            <a:r>
              <a:rPr lang="en-US" sz="2000" dirty="0"/>
              <a:t>-  for </a:t>
            </a:r>
            <a:r>
              <a:rPr lang="en-US" sz="2000" dirty="0" err="1"/>
              <a:t>eg</a:t>
            </a:r>
            <a:r>
              <a:rPr lang="en-US" sz="2000" dirty="0"/>
              <a:t> – ibm-granite-3-2-8b – For natural language understanding, reasoning, and personalization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IBM Cloud Lite</a:t>
            </a:r>
            <a:r>
              <a:rPr lang="en-US" altLang="en-US" sz="2000" dirty="0"/>
              <a:t> – Hosts the watsonx.ai services and provides a secure, scalable cloud environment for the solution.</a:t>
            </a:r>
            <a:endParaRPr lang="en-US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Message History (LangFlow)</a:t>
            </a:r>
            <a:r>
              <a:rPr lang="en-US" altLang="en-US" sz="2000" dirty="0"/>
              <a:t> – Maintains conversation context throughout the mock interview session for coherent and personalized interactions.</a:t>
            </a:r>
            <a:endParaRPr lang="en-US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Prompt Engineering </a:t>
            </a:r>
            <a:r>
              <a:rPr lang="en-US" altLang="en-US" sz="2000" dirty="0"/>
              <a:t>– Custom system prompts guide the AI to act as an expert interview coach, ensuring structured interviews and feedback</a:t>
            </a:r>
            <a:endParaRPr lang="en-US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25425"/>
            <a:ext cx="7123430" cy="480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704850"/>
            <a:ext cx="11301730" cy="6153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800" dirty="0"/>
              <a:t>The</a:t>
            </a:r>
            <a:r>
              <a:rPr lang="en-US" altLang="en-US" sz="1800" b="1" dirty="0"/>
              <a:t> Interview Trainer Agent</a:t>
            </a:r>
            <a:r>
              <a:rPr lang="en-US" altLang="en-US" sz="1800" dirty="0"/>
              <a:t> provides a realistic and personalized interview preparation experience by combining </a:t>
            </a:r>
            <a:r>
              <a:rPr lang="en-US" altLang="en-US" sz="1800" b="1" dirty="0"/>
              <a:t>Agentic AI, conversation memory, and intelligent feedback</a:t>
            </a:r>
            <a:r>
              <a:rPr lang="en-US" altLang="en-US" sz="1800" dirty="0"/>
              <a:t> into a single solution.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b="1" dirty="0"/>
              <a:t>Personalized Interview Experience</a:t>
            </a:r>
            <a:r>
              <a:rPr lang="en-US" altLang="en-US" sz="1800" dirty="0"/>
              <a:t> –</a:t>
            </a:r>
            <a:r>
              <a:rPr lang="en-US" altLang="en-US" sz="1800" b="1" dirty="0"/>
              <a:t> </a:t>
            </a:r>
            <a:r>
              <a:rPr lang="en-US" altLang="en-US" sz="1800" dirty="0"/>
              <a:t>Generates role-specific technical and behavioral questions based on the user's job role and experience level.</a:t>
            </a:r>
            <a:endParaRPr lang="en-US" altLang="en-US" sz="1800" dirty="0"/>
          </a:p>
          <a:p>
            <a:r>
              <a:rPr lang="en-US" altLang="en-US" sz="1800" b="1" dirty="0"/>
              <a:t>Adaptive Questioning</a:t>
            </a:r>
            <a:r>
              <a:rPr lang="en-US" altLang="en-US" sz="1800" dirty="0"/>
              <a:t> – Dynamically adjusts interactions and feedback according to the user's responses throughout the session.</a:t>
            </a:r>
            <a:r>
              <a:rPr lang="en-IN" sz="1800" dirty="0"/>
              <a:t> </a:t>
            </a:r>
            <a:endParaRPr lang="en-IN" sz="1800" dirty="0"/>
          </a:p>
          <a:p>
            <a:r>
              <a:rPr lang="en-US" altLang="en-US" sz="1800" b="1" dirty="0"/>
              <a:t>Context-Aware Memory </a:t>
            </a:r>
            <a:r>
              <a:rPr lang="en-US" altLang="en-US" sz="1800" dirty="0"/>
              <a:t>– Uses LangFlow Message History to remember previous questions and answers, enabling meaningful multi-turn conversations.</a:t>
            </a:r>
            <a:r>
              <a:rPr lang="en-IN" sz="1800" dirty="0"/>
              <a:t>. </a:t>
            </a:r>
            <a:endParaRPr lang="en-IN" sz="1800" dirty="0"/>
          </a:p>
          <a:p>
            <a:r>
              <a:rPr lang="en-US" altLang="en-US" sz="1800" b="1" dirty="0"/>
              <a:t>Detailed Answer Evaluation</a:t>
            </a:r>
            <a:r>
              <a:rPr lang="en-US" altLang="en-US" sz="1800" dirty="0"/>
              <a:t> – Analyzes each response and provides strengths, improvement areas, and a model answer for learning.</a:t>
            </a:r>
            <a:r>
              <a:rPr lang="en-IN" sz="1800" dirty="0"/>
              <a:t> </a:t>
            </a:r>
            <a:endParaRPr lang="en-IN" sz="1800" dirty="0"/>
          </a:p>
          <a:p>
            <a:r>
              <a:rPr lang="en-US" altLang="en-US" sz="1800" b="1" dirty="0"/>
              <a:t>End-to-End Interview Simulation</a:t>
            </a:r>
            <a:r>
              <a:rPr lang="en-US" altLang="en-US" sz="1800" dirty="0"/>
              <a:t> – Conducts a complete mock interview from introduction to final assessment without manual intervention</a:t>
            </a:r>
            <a:r>
              <a:rPr lang="en-IN" sz="1800" dirty="0"/>
              <a:t>. </a:t>
            </a:r>
            <a:endParaRPr lang="en-IN" sz="1800" dirty="0"/>
          </a:p>
          <a:p>
            <a:r>
              <a:rPr lang="en-US" altLang="en-US" sz="1800" b="1" dirty="0"/>
              <a:t>Instant Performance Analysis </a:t>
            </a:r>
            <a:r>
              <a:rPr lang="en-US" altLang="en-US" sz="1800" dirty="0"/>
              <a:t>– Provides an overall score, top strengths, and improvement recommendations at the end of the session.</a:t>
            </a:r>
            <a:endParaRPr lang="en-US" altLang="en-US" sz="1800" dirty="0"/>
          </a:p>
          <a:p>
            <a:r>
              <a:rPr lang="en-US" altLang="en-US" sz="1800" b="1" dirty="0"/>
              <a:t>Accessible and Cost-Effective</a:t>
            </a:r>
            <a:r>
              <a:rPr lang="en-US" altLang="en-US" sz="1800" dirty="0"/>
              <a:t> – Offers free, AI-powered interview practice through IBM watsonx.ai and LangFlow.</a:t>
            </a:r>
            <a:endParaRPr lang="en-US" altLang="en-US" sz="1800" dirty="0"/>
          </a:p>
          <a:p>
            <a:r>
              <a:rPr lang="en-US" altLang="en-US" sz="1800" b="1" dirty="0"/>
              <a:t>Built on IBM Technologies</a:t>
            </a:r>
            <a:r>
              <a:rPr lang="en-US" altLang="en-US" sz="1800" dirty="0"/>
              <a:t> – Developed using IBM watsonx.ai, IBM Cloud Lite, and LangFlow, ensuring reliability and scalability.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adaptive, and proactive </a:t>
            </a:r>
            <a:r>
              <a:rPr lang="en-US" altLang="en-US" sz="1800" b="1" dirty="0"/>
              <a:t>digital interview coach</a:t>
            </a:r>
            <a:r>
              <a:rPr lang="en-US" altLang="en-US" sz="1800" dirty="0"/>
              <a:t>, not just a static question bank or generic chatbot.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dirty="0">
                <a:sym typeface="Times New Roman" panose="02020603050405020304"/>
              </a:rPr>
              <a:t>Git Hub Link</a:t>
            </a:r>
            <a:endParaRPr sz="28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Interview Trainer Agent Repository</a:t>
            </a:r>
            <a:endParaRPr lang="en-US" altLang="en-US" sz="2000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zh-CN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🔗 </a:t>
            </a: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https://github.com/jasmeetkaur06/interview-trainer-agent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Files Included</a:t>
            </a:r>
            <a:endParaRPr lang="en-US" altLang="en-US" sz="2000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README.md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app.json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Problem Statement PDF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Project Presentation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Workflow Screenshots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Public Repository for Project Evaluation &amp; Reproducibility</a:t>
            </a:r>
            <a:endParaRPr lang="en-US" altLang="en-US" sz="2000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dirty="0">
                <a:sym typeface="Times New Roman" panose="02020603050405020304"/>
              </a:rPr>
              <a:t>Future Scope </a:t>
            </a:r>
            <a:endParaRPr sz="28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131570" y="1299845"/>
            <a:ext cx="9214485" cy="403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1. Resume-Based Personalization</a:t>
            </a: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Allow users to upload resumes so interview questions can be tailored to their skills, projects, and experience.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2. AI-Powered Voice Interviews</a:t>
            </a:r>
            <a:endParaRPr lang="en-US" altLang="en-US" sz="2000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Integrate speech-to-text and text-to-speech to simulate real interview conversations.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3. Multilingual Support</a:t>
            </a:r>
            <a:endParaRPr lang="en-US" altLang="en-US" sz="2000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Enable interview practice in multiple languages to make the solution more accessible and inclusive.</a:t>
            </a:r>
            <a:endParaRPr lang="en-US" alt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7888</Words>
  <Application>WPS Presentation</Application>
  <PresentationFormat>Widescreen</PresentationFormat>
  <Paragraphs>174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Jasmeet Kaur</cp:lastModifiedBy>
  <cp:revision>28</cp:revision>
  <dcterms:created xsi:type="dcterms:W3CDTF">2025-07-08T05:06:00Z</dcterms:created>
  <dcterms:modified xsi:type="dcterms:W3CDTF">2026-06-05T13:10:35Z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81A4EDDCC4EC4C058E9483540E97B5B1_13</vt:lpwstr>
  </property>
</Properties>
</file>